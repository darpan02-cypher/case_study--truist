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breach rate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32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0A10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A10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Gateway B (n=219)</c:v>
                  </c:pt>
                  <c:pt idx="1">
                    <c:v>Gateway A (n=147)</c:v>
                  </c:pt>
                  <c:pt idx="2">
                    <c:v>CorePay (n=372)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0.831</c:v>
                </c:pt>
                <c:pt idx="1">
                  <c:v>0.449</c:v>
                </c:pt>
                <c:pt idx="2">
                  <c:v>0.425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400" u="none">
                  <a:solidFill>
                    <a:srgbClr val="132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323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breach rate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32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Instant Pay (54)</c:v>
                  </c:pt>
                  <c:pt idx="1">
                    <c:v>API Card (38)</c:v>
                  </c:pt>
                  <c:pt idx="2">
                    <c:v>Treasury ACH (43)</c:v>
                  </c:pt>
                  <c:pt idx="3">
                    <c:v>Partner ACH (33)</c:v>
                  </c:pt>
                  <c:pt idx="4">
                    <c:v>Commercial Card (51)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0.981</c:v>
                </c:pt>
                <c:pt idx="1">
                  <c:v>0.895</c:v>
                </c:pt>
                <c:pt idx="2">
                  <c:v>0.814</c:v>
                </c:pt>
                <c:pt idx="3">
                  <c:v>0.788</c:v>
                </c:pt>
                <c:pt idx="4">
                  <c:v>0.667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400" u="none">
                  <a:solidFill>
                    <a:srgbClr val="132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3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breach rate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323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API (61)</c:v>
                  </c:pt>
                  <c:pt idx="1">
                    <c:v>Branch (32)</c:v>
                  </c:pt>
                  <c:pt idx="2">
                    <c:v>Mobile (55)</c:v>
                  </c:pt>
                  <c:pt idx="3">
                    <c:v>Online (74)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0.885</c:v>
                </c:pt>
                <c:pt idx="1">
                  <c:v>0.875</c:v>
                </c:pt>
                <c:pt idx="2">
                  <c:v>0.83</c:v>
                </c:pt>
                <c:pt idx="3">
                  <c:v>0.767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400" u="none">
                  <a:solidFill>
                    <a:srgbClr val="1323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23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number: Gateway B misses its SLA 83% of the time. Across 750 payments over two months, one system stands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Gateway B is slower, median 3.8 seconds against 2.5 for CorePay. Failure rates are about the same across systems, so customers are not seeing more errors. They are seeing slower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is slow on every one of its five products and on every channel, so this is a system problem, not a product problem. 67 to 98 percent by product, 77 to 89 percent by channel.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should open a performance review of Gateway B, covering capacity and routing. Caveat: two months of data, duplicates removed, 12 missing times excluded; the data does not tell us why Gateway B is slow.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CHALLENGE · LEADERSHIP PITCH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B misses its SLA 83% of the time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 transactions · Aug 1 – Sep 30, 2026 · one system stands out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B breaches SLA about twice as often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breach rate by processing system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51206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&lt;20% good   </a:t>
            </a:r>
            <a:pPr indent="0" marL="0">
              <a:buNone/>
            </a:pPr>
            <a:r>
              <a:rPr lang="en-US" sz="1100" dirty="0">
                <a:solidFill>
                  <a:srgbClr val="1E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 acceptable   </a:t>
            </a:r>
            <a:pPr indent="0" marL="0">
              <a:buNone/>
            </a:pPr>
            <a:r>
              <a:rPr lang="en-US" sz="110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warning   </a:t>
            </a:r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danger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943600" y="1371600"/>
            <a:ext cx="2743200" cy="1554480"/>
          </a:xfrm>
          <a:prstGeom prst="roundRect">
            <a:avLst>
              <a:gd name="adj" fmla="val 5882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26480" y="146304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3.8s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240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B median processing time vs 2.5s CorePay, 3.1s Gateway 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943600" y="3108960"/>
            <a:ext cx="2743200" cy="1463040"/>
          </a:xfrm>
          <a:prstGeom prst="roundRect">
            <a:avLst>
              <a:gd name="adj" fmla="val 625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126480" y="3200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38862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rate is similar (B 8.6%, CorePay 8.0%): the issue is speed, not errors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system, not one product or channel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B breach rate by product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846320" y="11887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B breach rate by channel</a:t>
            </a:r>
            <a:endParaRPr lang="en-US" sz="14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4754880" y="1463040"/>
          <a:ext cx="402336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4846320" y="37947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systems: 37–54% on every channel. Numbers in brackets are sample sizes.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61772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&lt;20% good   </a:t>
            </a:r>
            <a:pPr indent="0" marL="0">
              <a:buNone/>
            </a:pPr>
            <a:r>
              <a:rPr lang="en-US" sz="1100" dirty="0">
                <a:solidFill>
                  <a:srgbClr val="1E6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20–40% acceptable   </a:t>
            </a:r>
            <a:pPr indent="0" marL="0">
              <a:buNone/>
            </a:pPr>
            <a:r>
              <a:rPr lang="en-US" sz="1100" dirty="0">
                <a:solidFill>
                  <a:srgbClr val="E0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warning   </a:t>
            </a:r>
            <a:pPr indent="0" marL="0">
              <a:buNone/>
            </a:pPr>
            <a:r>
              <a:rPr lang="en-US" sz="11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11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60%+ danger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performance review of Gateway B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capacity and routing. The data shows the problem, not the cause.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A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Caveats: ~2 months of data · 5 duplicates removed · 12 missing times excluded · Payment_Type and Payment_Family removed as unreliable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Gateway B Performance Review</dc:title>
  <dc:subject>PptxGenJS Presentation</dc:subject>
  <dc:creator>PptxGenJS</dc:creator>
  <cp:lastModifiedBy>PptxGenJS</cp:lastModifiedBy>
  <cp:revision>1</cp:revision>
  <dcterms:created xsi:type="dcterms:W3CDTF">2026-10-15T15:44:00Z</dcterms:created>
  <dcterms:modified xsi:type="dcterms:W3CDTF">2026-10-15T15:44:00Z</dcterms:modified>
</cp:coreProperties>
</file>